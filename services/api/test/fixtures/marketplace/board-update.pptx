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 (£M)</c:v>
                </c:pt>
              </c:strCache>
            </c:strRef>
          </c:tx>
          <c:spPr>
            <a:solidFill>
              <a:srgbClr val="B8C4D2"/>
            </a:solidFill>
          </c:spPr>
          <c:cat>
            <c:strRef>
              <c:f>Sheet1!$A$2:$A$5</c:f>
              <c:strCache>
                <c:ptCount val="4"/>
                <c:pt idx="0">
                  <c:v>Q4 FY25</c:v>
                </c:pt>
                <c:pt idx="1">
                  <c:v>Q1 FY26</c:v>
                </c:pt>
                <c:pt idx="2">
                  <c:v>Q2 FY26</c:v>
                </c:pt>
                <c:pt idx="3">
                  <c:v>Q3 FY26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9.0</c:v>
                </c:pt>
                <c:pt idx="1">
                  <c:v>9.6</c:v>
                </c:pt>
                <c:pt idx="2">
                  <c:v>10.1</c:v>
                </c:pt>
                <c:pt idx="3">
                  <c:v>10.55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(£M)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Sheet1!$A$2:$A$5</c:f>
              <c:strCache>
                <c:ptCount val="4"/>
                <c:pt idx="0">
                  <c:v>Q4 FY25</c:v>
                </c:pt>
                <c:pt idx="1">
                  <c:v>Q1 FY26</c:v>
                </c:pt>
                <c:pt idx="2">
                  <c:v>Q2 FY26</c:v>
                </c:pt>
                <c:pt idx="3">
                  <c:v>Q3 FY26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9.4</c:v>
                </c:pt>
                <c:pt idx="1">
                  <c:v>9.8</c:v>
                </c:pt>
                <c:pt idx="2">
                  <c:v>10.6</c:v>
                </c:pt>
                <c:pt idx="3">
                  <c:v>11.2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B2A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79456312"/>
        <c:axId val="33489208"/>
      </c:barChart>
      <c:catAx>
        <c:axId val="7945631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2D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33489208"/>
        <c:crosses val="autoZero"/>
        <c:auto val="1"/>
        <c:lblAlgn val="ctr"/>
        <c:lblOffset val="100"/>
        <c:noMultiLvlLbl val="0"/>
      </c:catAx>
      <c:valAx>
        <c:axId val="33489208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79456312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24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1097280"/>
            <a:ext cx="2011680" cy="2011680"/>
          </a:xfrm>
          <a:prstGeom prst="ellipse">
            <a:avLst/>
          </a:prstGeom>
          <a:solidFill>
            <a:srgbClr val="2E5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566160"/>
            <a:ext cx="1280160" cy="12801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4114800"/>
            <a:ext cx="731520" cy="731520"/>
          </a:xfrm>
          <a:prstGeom prst="ellipse">
            <a:avLst/>
          </a:prstGeom>
          <a:solidFill>
            <a:srgbClr val="3A6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7498079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7FD1D8"/>
                </a:solidFill>
                <a:latin typeface="Calibri"/>
              </a:rPr>
              <a:t>BOARD OF DIRECTORS · 22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768096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Q3 FY26 Board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7498079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0">
                <a:solidFill>
                  <a:srgbClr val="C9D8E8"/>
                </a:solidFill>
                <a:latin typeface="Calibri"/>
              </a:rPr>
              <a:t>Three decisions, one risk to note, and the quarter against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983480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7498079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9D8E8"/>
                </a:solidFill>
                <a:latin typeface="Calibri"/>
              </a:rPr>
              <a:t>Daniel Okafor, CEO  ·  Priya Raman, CFO
Board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ASKS OF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This meeting asks the Board for three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Board update · Q3 FY26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993392"/>
            <a:ext cx="1371600" cy="402336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819656"/>
            <a:ext cx="5669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FY27 operating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221992"/>
            <a:ext cx="58521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B2A3A"/>
                </a:solidFill>
                <a:latin typeface="Calibri"/>
              </a:rPr>
              <a:t>£48.6M revenue, 14.2% EBITDA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93392"/>
            <a:ext cx="292608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300" b="0">
                <a:solidFill>
                  <a:srgbClr val="5B6B7B"/>
                </a:solidFill>
                <a:latin typeface="Calibri"/>
              </a:rPr>
              <a:t>Owner: CFO ·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2928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154680"/>
            <a:ext cx="1371600" cy="402336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980944"/>
            <a:ext cx="5669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APAC hub — tranche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383280"/>
            <a:ext cx="58521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B2A3A"/>
                </a:solidFill>
                <a:latin typeface="Calibri"/>
              </a:rPr>
              <a:t>£2.1M capex, released January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54680"/>
            <a:ext cx="292608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300" b="0">
                <a:solidFill>
                  <a:srgbClr val="5B6B7B"/>
                </a:solidFill>
                <a:latin typeface="Calibri"/>
              </a:rPr>
              <a:t>Owner: COO · 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14216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315968"/>
            <a:ext cx="1371600" cy="402336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142232"/>
            <a:ext cx="5669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Enterprise churn above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544568"/>
            <a:ext cx="58521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B2A3A"/>
                </a:solidFill>
                <a:latin typeface="Calibri"/>
              </a:rPr>
              <a:t>2 logos lost, £0.6M ARR; recovery plan on slide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315968"/>
            <a:ext cx="292608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300" b="0">
                <a:solidFill>
                  <a:srgbClr val="5B6B7B"/>
                </a:solidFill>
                <a:latin typeface="Calibri"/>
              </a:rPr>
              <a:t>Owner: CRO · Q4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75504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477256"/>
            <a:ext cx="1371600" cy="402336"/>
          </a:xfrm>
          <a:prstGeom prst="roundRect">
            <a:avLst>
              <a:gd name="adj" fmla="val 8000"/>
            </a:avLst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DISCUSS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303520"/>
            <a:ext cx="5669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Pricing for FY27 renewals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705856"/>
            <a:ext cx="58521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B2A3A"/>
                </a:solidFill>
                <a:latin typeface="Calibri"/>
              </a:rPr>
              <a:t>Options A/B in the appendix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477256"/>
            <a:ext cx="292608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300" b="0">
                <a:solidFill>
                  <a:srgbClr val="5B6B7B"/>
                </a:solidFill>
                <a:latin typeface="Calibri"/>
              </a:rPr>
              <a:t>Owner: CEO · December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QUARTER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926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Revenue is 6% ahead of plan; EBITDA is 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384048"/>
            <a:ext cx="1280160" cy="384048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Board update · Q3 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4008" cy="109728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3200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Q3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29968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£11.2M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7B4F"/>
                </a:solidFill>
                <a:latin typeface="Calibri"/>
              </a:rPr>
              <a:t>+6.1% vs plan · +19% YoY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64008" cy="109728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10712"/>
            <a:ext cx="3200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EBITDA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30168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13.4%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70248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7B4F"/>
                </a:solidFill>
                <a:latin typeface="Calibri"/>
              </a:rPr>
              <a:t>+0.2 pts vs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463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64008" cy="10972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10912"/>
            <a:ext cx="3200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NET REVENUE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8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112%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B42318"/>
                </a:solidFill>
                <a:latin typeface="Calibri"/>
              </a:rPr>
              <a:t>−2 pts vs Q2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480560" y="1600200"/>
          <a:ext cx="72237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WORKSTREAM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926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Two of five workstreams need Board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384048"/>
            <a:ext cx="1280160" cy="384048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Board update · Q3 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74519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Core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7744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3200400" cy="73151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Pipeline cover 3.1× for H1; win rate 27%.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45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4592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874519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APAC launch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237744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B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834640"/>
            <a:ext cx="3200400" cy="73151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3 LOIs signed; GM hire slipping to January.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6459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64592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874519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Enterprise retention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19" y="237744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OFF TRACK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834640"/>
            <a:ext cx="3200400" cy="73151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2 logos lost (£0.6M ARR); recovery plan live.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88620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Platform reliability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61772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99.97% uptime vs 99.95% target.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3886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3886200"/>
            <a:ext cx="356616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41148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Calibri"/>
              </a:rPr>
              <a:t>Cost programme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79" y="461772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507492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£1.1M of £1.4M savings banked.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977639"/>
            <a:ext cx="356616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Status thresholds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7B4F"/>
                </a:solidFill>
                <a:latin typeface="Calibri"/>
              </a:rPr>
              <a:t>On track — within 5% of plan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76E00"/>
                </a:solidFill>
                <a:latin typeface="Calibri"/>
              </a:rPr>
              <a:t>At risk — 5–10% off plan or a date slips &lt; 1 month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B42318"/>
                </a:solidFill>
                <a:latin typeface="Calibri"/>
              </a:rPr>
              <a:t>Off track — &gt; 10% off plan or slips ≥ 1 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RISK REGISTER — EXCEPTIONS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926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Enterprise churn breached its threshold this quarter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0152" y="384048"/>
            <a:ext cx="1280160" cy="384048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Board update · Q3 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91640"/>
          <a:ext cx="1109167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1097280"/>
                <a:gridCol w="3867912"/>
                <a:gridCol w="9144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Enterprise churn above 8% threshold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B4231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↑ new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Exec sponsor on top 25 accounts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CRO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Singapore GM hire slips past Q1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B76E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↑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Interim GM seconded from London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COO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SGD cost exposure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B76E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Hedge 70% of committed spend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Key-person dependency in data platform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7B4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↓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Two senior hires closed in Q3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A3A"/>
                          </a:solidFill>
                          <a:latin typeface="Calibri"/>
                        </a:rPr>
                        <a:t>CTO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Calibri"/>
              </a:rPr>
              <a:t>Green risks with no change since Q2 are in the appendix. Ratings use the Board-approved 5×5 likelihood × impact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Next steps: every action has an owner and a 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Board update · Q3 FY26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0916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4072"/>
                <a:gridCol w="1828800"/>
                <a:gridCol w="182880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91440" marR="91440" anchor="ctr">
                    <a:solidFill>
                      <a:srgbClr val="1F3A5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Release APAC tranche 1 on Board approval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COO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Jan 2027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Report tranche-1 revenue gate progress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Apr 2027 Board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Present enterprise churn recovery results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CRO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Dec 2026 Board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Bring FY27 renewal pricing recommendation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B2A3A"/>
                          </a:solidFill>
                          <a:latin typeface="Calibri"/>
                        </a:rPr>
                        <a:t>Dec 2026 Board</a:t>
                      </a:r>
                    </a:p>
                  </a:txBody>
                  <a:tcPr marL="91440" marR="9144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Northwind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