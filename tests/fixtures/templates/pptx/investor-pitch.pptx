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ARR ($M)</c:v>
                </c:pt>
              </c:strCache>
            </c:strRef>
          </c:tx>
          <c:spPr>
            <a:solidFill>
              <a:srgbClr val="0E7C86"/>
            </a:solidFill>
          </c:spPr>
          <c:cat>
            <c:strRef>
              <c:f>Sheet1!$A$2:$A$5</c:f>
              <c:strCache>
                <c:ptCount val="4"/>
                <c:pt idx="0">
                  <c:v>Q4 '25</c:v>
                </c:pt>
                <c:pt idx="1">
                  <c:v>Q1 '26</c:v>
                </c:pt>
                <c:pt idx="2">
                  <c:v>Q2 '26</c:v>
                </c:pt>
                <c:pt idx="3">
                  <c:v>Q3 '26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1.2</c:v>
                </c:pt>
                <c:pt idx="1">
                  <c:v>1.9</c:v>
                </c:pt>
                <c:pt idx="2">
                  <c:v>2.8</c:v>
                </c:pt>
                <c:pt idx="3">
                  <c:v>4.1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>
                  <a:solidFill>
                    <a:srgbClr val="1B2A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79456312"/>
        <c:axId val="33489208"/>
      </c:barChart>
      <c:catAx>
        <c:axId val="79456312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2DC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33489208"/>
        <c:crosses val="autoZero"/>
        <c:auto val="1"/>
        <c:lblAlgn val="ctr"/>
        <c:lblOffset val="100"/>
        <c:noMultiLvlLbl val="0"/>
      </c:catAx>
      <c:valAx>
        <c:axId val="33489208"/>
        <c:scaling/>
        <c:delete val="0"/>
        <c:axPos val="l"/>
        <c:majorGridlines>
          <c:spPr>
            <a:ln>
              <a:solidFill>
                <a:srgbClr val="E3E8EE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79456312"/>
        <c:crosses val="autoZero"/>
      </c:valAx>
    </c:plotArea>
    <c:dispBlanksAs val="gap"/>
  </c:chart>
  <c:txPr>
    <a:bodyPr/>
    <a:lstStyle/>
    <a:p>
      <a:pPr>
        <a:defRPr sz="1200">
          <a:solidFill>
            <a:srgbClr val="5B6B7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dPt>
            <c:idx val="0"/>
            <c:spPr>
              <a:solidFill>
                <a:srgbClr val="1F3A5F"/>
              </a:solidFill>
            </c:spPr>
          </c:dPt>
          <c:dPt>
            <c:idx val="1"/>
            <c:spPr>
              <a:solidFill>
                <a:srgbClr val="0E7C86"/>
              </a:solidFill>
            </c:spPr>
          </c:dPt>
          <c:dPt>
            <c:idx val="2"/>
            <c:spPr>
              <a:solidFill>
                <a:srgbClr val="5E8DB8"/>
              </a:solidFill>
            </c:spPr>
          </c:dPt>
          <c:dPt>
            <c:idx val="3"/>
            <c:spPr>
              <a:solidFill>
                <a:srgbClr val="B8C4D2"/>
              </a:solidFill>
            </c:spPr>
          </c:dPt>
          <c:cat>
            <c:strRef>
              <c:f>Sheet1!$A$2:$A$5</c:f>
              <c:strCache>
                <c:ptCount val="4"/>
                <c:pt idx="0">
                  <c:v>R&amp;D · 40%</c:v>
                </c:pt>
                <c:pt idx="1">
                  <c:v>Deployment · 30%</c:v>
                </c:pt>
                <c:pt idx="2">
                  <c:v>Sales &amp; marketing · 20%</c:v>
                </c:pt>
                <c:pt idx="3">
                  <c:v>G&amp;A · 10%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</c:v>
                </c:pt>
                <c:pt idx="1">
                  <c:v>0.3</c:v>
                </c:pt>
                <c:pt idx="2">
                  <c:v>0.2</c:v>
                </c:pt>
                <c:pt idx="3">
                  <c:v>0.1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5B6B7B"/>
          </a:solidFill>
          <a:latin typeface="Calibri"/>
        </a:defRPr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80960" y="0"/>
            <a:ext cx="4510735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7680960" y="0"/>
            <a:ext cx="4510735" cy="6858000"/>
          </a:xfrm>
          <a:prstGeom prst="rtTriangle">
            <a:avLst/>
          </a:prstGeom>
          <a:solidFill>
            <a:srgbClr val="0B5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371600"/>
            <a:ext cx="822960" cy="7315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6400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E7C86"/>
                </a:solidFill>
                <a:latin typeface="Calibri"/>
              </a:rPr>
              <a:t>SERIES A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6583680" cy="1463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4800" b="1">
                <a:solidFill>
                  <a:srgbClr val="1F3A5F"/>
                </a:solidFill>
                <a:latin typeface="Calibri"/>
              </a:rPr>
              <a:t>Halcyon Robotics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6400800" cy="10972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0">
                <a:solidFill>
                  <a:srgbClr val="1B2A3A"/>
                </a:solidFill>
                <a:latin typeface="Calibri"/>
              </a:rPr>
              <a:t>Autonomous picking robots that pay for themselves in 11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6400800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0">
                <a:solidFill>
                  <a:srgbClr val="5B6B7B"/>
                </a:solidFill>
                <a:latin typeface="Calibri"/>
              </a:rPr>
              <a:t>Maya Chen, CEO &amp; Co-founder
hello@halcyon-robotics.example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377440"/>
            <a:ext cx="3657600" cy="10972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Calibri"/>
              </a:rPr>
              <a:t>$18M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520440"/>
            <a:ext cx="3657600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0">
                <a:solidFill>
                  <a:srgbClr val="D7F0F2"/>
                </a:solidFill>
                <a:latin typeface="Calibri"/>
              </a:rPr>
              <a:t>Series A to reach 1,000 robots and $20M ARR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Calibri"/>
              </a:rPr>
              <a:t>Warehouses cannot hire fast enough for e-commerce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1672" cy="27432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28816"/>
            <a:ext cx="731520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5B6B7B"/>
                </a:solidFill>
                <a:latin typeface="Calibri"/>
              </a:rPr>
              <a:t>Northwind Analytics  ·  Series A · Halcyon Robotics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28816"/>
            <a:ext cx="941832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>
                <a:solidFill>
                  <a:srgbClr val="5B6B7B"/>
                </a:solidFill>
                <a:latin typeface="Calibr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3566160" cy="29260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103120"/>
            <a:ext cx="3017520" cy="10972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5400" b="1">
                <a:solidFill>
                  <a:srgbClr val="0E7C86"/>
                </a:solidFill>
                <a:latin typeface="Calibri"/>
              </a:rPr>
              <a:t>38%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291840"/>
            <a:ext cx="3017520" cy="10972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0">
                <a:solidFill>
                  <a:srgbClr val="1B2A3A"/>
                </a:solidFill>
                <a:latin typeface="Calibri"/>
              </a:rPr>
              <a:t>annual turnover in warehouse picking roles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1783080"/>
            <a:ext cx="3566160" cy="29260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1999" y="2103120"/>
            <a:ext cx="3017520" cy="10972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5400" b="1">
                <a:solidFill>
                  <a:srgbClr val="0E7C86"/>
                </a:solidFill>
                <a:latin typeface="Calibri"/>
              </a:rPr>
              <a:t>$24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3291840"/>
            <a:ext cx="3017520" cy="10972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0">
                <a:solidFill>
                  <a:srgbClr val="1B2A3A"/>
                </a:solidFill>
                <a:latin typeface="Calibri"/>
              </a:rPr>
              <a:t>average cost to fill one hour of unplanned labour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783080"/>
            <a:ext cx="3566160" cy="29260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103120"/>
            <a:ext cx="3017520" cy="10972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5400" b="1">
                <a:solidFill>
                  <a:srgbClr val="0E7C86"/>
                </a:solidFill>
                <a:latin typeface="Calibri"/>
              </a:rPr>
              <a:t>1 in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291840"/>
            <a:ext cx="3017520" cy="10972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0">
                <a:solidFill>
                  <a:srgbClr val="1B2A3A"/>
                </a:solidFill>
                <a:latin typeface="Calibri"/>
              </a:rPr>
              <a:t>orders shipped late during peak season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74920"/>
            <a:ext cx="10972800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0">
                <a:solidFill>
                  <a:srgbClr val="5B6B7B"/>
                </a:solidFill>
                <a:latin typeface="Calibri"/>
              </a:rPr>
              <a:t>Mid-size 3PLs feel this most: too small for fixed automation, too large to absorb the churn.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Calibri"/>
              </a:rPr>
              <a:t>Robots plug into existing shelving in a weekend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1672" cy="27432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28816"/>
            <a:ext cx="731520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5B6B7B"/>
                </a:solidFill>
                <a:latin typeface="Calibri"/>
              </a:rPr>
              <a:t>Northwind Analytics  ·  Series A · Halcyon Robotics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28816"/>
            <a:ext cx="941832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>
                <a:solidFill>
                  <a:srgbClr val="5B6B7B"/>
                </a:solidFill>
                <a:latin typeface="Calibri"/>
              </a:rPr>
              <a:t>3</a:t>
            </a:r>
          </a:p>
        </p:txBody>
      </p:sp>
      <p:sp>
        <p:nvSpPr>
          <p:cNvPr id="9" name="Pentagon 8"/>
          <p:cNvSpPr/>
          <p:nvPr/>
        </p:nvSpPr>
        <p:spPr>
          <a:xfrm>
            <a:off x="548640" y="1783080"/>
            <a:ext cx="3566160" cy="822960"/>
          </a:xfrm>
          <a:prstGeom prst="homePlat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 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3200400" cy="1828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0">
                <a:solidFill>
                  <a:srgbClr val="1B2A3A"/>
                </a:solidFill>
                <a:latin typeface="Calibri"/>
              </a:rPr>
              <a:t>Robot fleet scans the warehouse and builds a live map in 6 hours.</a:t>
            </a:r>
          </a:p>
        </p:txBody>
      </p:sp>
      <p:sp>
        <p:nvSpPr>
          <p:cNvPr id="11" name="Pentagon 10"/>
          <p:cNvSpPr/>
          <p:nvPr/>
        </p:nvSpPr>
        <p:spPr>
          <a:xfrm>
            <a:off x="4297679" y="1783080"/>
            <a:ext cx="3566160" cy="822960"/>
          </a:xfrm>
          <a:prstGeom prst="homePlate">
            <a:avLst/>
          </a:prstGeom>
          <a:solidFill>
            <a:srgbClr val="24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  Pick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834640"/>
            <a:ext cx="3200400" cy="1828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0">
                <a:solidFill>
                  <a:srgbClr val="1B2A3A"/>
                </a:solidFill>
                <a:latin typeface="Calibri"/>
              </a:rPr>
              <a:t>Vision-guided arms pick 600 units per hour across 40,000 SKUs.</a:t>
            </a:r>
          </a:p>
        </p:txBody>
      </p:sp>
      <p:sp>
        <p:nvSpPr>
          <p:cNvPr id="13" name="Pentagon 12"/>
          <p:cNvSpPr/>
          <p:nvPr/>
        </p:nvSpPr>
        <p:spPr>
          <a:xfrm>
            <a:off x="8046719" y="1783080"/>
            <a:ext cx="3566160" cy="822960"/>
          </a:xfrm>
          <a:prstGeom prst="homePlat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  Learn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9" y="2834640"/>
            <a:ext cx="3200400" cy="1828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0">
                <a:solidFill>
                  <a:srgbClr val="1B2A3A"/>
                </a:solidFill>
                <a:latin typeface="Calibri"/>
              </a:rPr>
              <a:t>Every pick trains the shared model; accuracy is now 99.6%.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846320"/>
            <a:ext cx="11091672" cy="1280160"/>
          </a:xfrm>
          <a:prstGeom prst="roundRect">
            <a:avLst>
              <a:gd name="adj" fmla="val 8000"/>
            </a:avLst>
          </a:prstGeom>
          <a:solidFill>
            <a:srgbClr val="E6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983480"/>
            <a:ext cx="10515600" cy="10058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Calibri"/>
              </a:rPr>
              <a:t>Robots-as-a-service: </a:t>
            </a:r>
          </a:p>
          <a:p>
            <a:pPr algn="l"/>
            <a:r>
              <a:rPr sz="1800" b="0">
                <a:solidFill>
                  <a:srgbClr val="1B2A3A"/>
                </a:solidFill>
                <a:latin typeface="Calibri"/>
              </a:rPr>
              <a:t>no capex for the customer — $2,400 per robot per month, cancellable after 12 months.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Calibri"/>
              </a:rP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Calibri"/>
              </a:rPr>
              <a:t>A $14B serviceable market, starting with NA 3PLs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1672" cy="27432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28816"/>
            <a:ext cx="731520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5B6B7B"/>
                </a:solidFill>
                <a:latin typeface="Calibri"/>
              </a:rPr>
              <a:t>Northwind Analytics  ·  Series A · Halcyon Robotics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28816"/>
            <a:ext cx="941832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>
                <a:solidFill>
                  <a:srgbClr val="5B6B7B"/>
                </a:solidFill>
                <a:latin typeface="Calibri"/>
              </a:rPr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1920239"/>
            <a:ext cx="4206240" cy="4206240"/>
          </a:xfrm>
          <a:prstGeom prst="ellipse">
            <a:avLst/>
          </a:prstGeom>
          <a:solidFill>
            <a:srgbClr val="D7E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91640" y="3108959"/>
            <a:ext cx="3017520" cy="3017520"/>
          </a:xfrm>
          <a:prstGeom prst="ellipse">
            <a:avLst/>
          </a:prstGeom>
          <a:solidFill>
            <a:srgbClr val="9DB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86000" y="4297679"/>
            <a:ext cx="1828800" cy="182880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1965960"/>
            <a:ext cx="219456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400" b="1">
                <a:solidFill>
                  <a:srgbClr val="1F3A5F"/>
                </a:solidFill>
                <a:latin typeface="Calibri"/>
              </a:rPr>
              <a:t>$52B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246120"/>
            <a:ext cx="219456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400" b="1">
                <a:solidFill>
                  <a:srgbClr val="1F3A5F"/>
                </a:solidFill>
                <a:latin typeface="Calibri"/>
              </a:rPr>
              <a:t>$14B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4617720"/>
            <a:ext cx="219456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$1.1B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5212080" cy="4206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F3A5F"/>
                </a:solidFill>
                <a:latin typeface="Calibri"/>
              </a:rPr>
              <a:t>TAM  $52B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B6B7B"/>
                </a:solidFill>
                <a:latin typeface="Calibri"/>
              </a:rPr>
              <a:t>Global spend on warehouse picking labour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F3A5F"/>
                </a:solidFill>
                <a:latin typeface="Calibri"/>
              </a:rPr>
              <a:t>SAM  $14B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B6B7B"/>
                </a:solidFill>
                <a:latin typeface="Calibri"/>
              </a:rPr>
              <a:t>Mid-size 3PLs in North America and Europe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0E7C86"/>
                </a:solidFill>
                <a:latin typeface="Calibri"/>
              </a:rPr>
              <a:t>SOM  $1.1B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B6B7B"/>
                </a:solidFill>
                <a:latin typeface="Calibri"/>
              </a:rPr>
              <a:t>8% share of SAM by 2030 — 4,000 robots deployed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Calibri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Calibri"/>
              </a:rPr>
              <a:t>ARR has grown 3.4× in twelve months ($M)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1672" cy="27432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28816"/>
            <a:ext cx="731520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5B6B7B"/>
                </a:solidFill>
                <a:latin typeface="Calibri"/>
              </a:rPr>
              <a:t>Northwind Analytics  ·  Series A · Halcyon Robotics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28816"/>
            <a:ext cx="941832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>
                <a:solidFill>
                  <a:srgbClr val="5B6B7B"/>
                </a:solidFill>
                <a:latin typeface="Calibri"/>
              </a:rPr>
              <a:t>5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1600200"/>
          <a:ext cx="73152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229600" y="1645920"/>
            <a:ext cx="3410712" cy="146304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1828800"/>
            <a:ext cx="64008" cy="109728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810512"/>
            <a:ext cx="3044952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B6B7B"/>
                </a:solidFill>
                <a:latin typeface="Calibri"/>
              </a:rPr>
              <a:t>ARR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029968"/>
            <a:ext cx="3044952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$4.1M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670048"/>
            <a:ext cx="3044952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E7B4F"/>
                </a:solidFill>
                <a:latin typeface="Calibri"/>
              </a:rPr>
              <a:t>+242% YoY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3246120"/>
            <a:ext cx="3410712" cy="146304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3429000"/>
            <a:ext cx="64008" cy="109728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3410712"/>
            <a:ext cx="3044952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B6B7B"/>
                </a:solidFill>
                <a:latin typeface="Calibri"/>
              </a:rPr>
              <a:t>CUSTOMERS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630168"/>
            <a:ext cx="3044952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4270248"/>
            <a:ext cx="3044952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E7B4F"/>
                </a:solidFill>
                <a:latin typeface="Calibri"/>
              </a:rPr>
              <a:t>0 churned to date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4846320"/>
            <a:ext cx="3410712" cy="146304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5029200"/>
            <a:ext cx="64008" cy="109728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5010912"/>
            <a:ext cx="3044952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B6B7B"/>
                </a:solidFill>
                <a:latin typeface="Calibri"/>
              </a:rPr>
              <a:t>NET REVENUE RETENTION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5230368"/>
            <a:ext cx="3044952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128%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5870448"/>
            <a:ext cx="3044952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E7B4F"/>
                </a:solidFill>
                <a:latin typeface="Calibri"/>
              </a:rPr>
              <a:t>Expansion-led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Calibr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Calibri"/>
              </a:rPr>
              <a:t>A team that has shipped robots at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1672" cy="27432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28816"/>
            <a:ext cx="731520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5B6B7B"/>
                </a:solidFill>
                <a:latin typeface="Calibri"/>
              </a:rPr>
              <a:t>Northwind Analytics  ·  Series A · Halcyon Robotics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28816"/>
            <a:ext cx="941832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>
                <a:solidFill>
                  <a:srgbClr val="5B6B7B"/>
                </a:solidFill>
                <a:latin typeface="Calibri"/>
              </a:rPr>
              <a:t>6</a:t>
            </a:r>
          </a:p>
        </p:txBody>
      </p:sp>
      <p:sp>
        <p:nvSpPr>
          <p:cNvPr id="9" name="Oval 8"/>
          <p:cNvSpPr/>
          <p:nvPr/>
        </p:nvSpPr>
        <p:spPr>
          <a:xfrm>
            <a:off x="1325880" y="1783080"/>
            <a:ext cx="1097280" cy="1097280"/>
          </a:xfrm>
          <a:prstGeom prst="ellipse">
            <a:avLst/>
          </a:prstGeom>
          <a:solidFill>
            <a:srgbClr val="9DB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103120"/>
            <a:ext cx="109728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1F3A5F"/>
                </a:solidFill>
                <a:latin typeface="Calibri"/>
              </a:rPr>
              <a:t>MC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63240"/>
            <a:ext cx="265176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1F3A5F"/>
                </a:solidFill>
                <a:latin typeface="Calibri"/>
              </a:rPr>
              <a:t>Maya Chen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20440"/>
            <a:ext cx="26517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0E7C86"/>
                </a:solidFill>
                <a:latin typeface="Calibri"/>
              </a:rPr>
              <a:t>CEO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77639"/>
            <a:ext cx="246888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400" b="0">
                <a:solidFill>
                  <a:srgbClr val="1B2A3A"/>
                </a:solidFill>
                <a:latin typeface="Calibri"/>
              </a:rPr>
              <a:t>Ex-VP Ops, regional 3PL; scaled 12 sites</a:t>
            </a:r>
          </a:p>
        </p:txBody>
      </p:sp>
      <p:sp>
        <p:nvSpPr>
          <p:cNvPr id="14" name="Oval 13"/>
          <p:cNvSpPr/>
          <p:nvPr/>
        </p:nvSpPr>
        <p:spPr>
          <a:xfrm>
            <a:off x="4142232" y="1783080"/>
            <a:ext cx="1097280" cy="1097280"/>
          </a:xfrm>
          <a:prstGeom prst="ellipse">
            <a:avLst/>
          </a:prstGeom>
          <a:solidFill>
            <a:srgbClr val="7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42232" y="2103120"/>
            <a:ext cx="109728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1F3A5F"/>
                </a:solidFill>
                <a:latin typeface="Calibri"/>
              </a:rPr>
              <a:t>DR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4992" y="3063240"/>
            <a:ext cx="265176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1F3A5F"/>
                </a:solidFill>
                <a:latin typeface="Calibri"/>
              </a:rPr>
              <a:t>Dev Raman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4992" y="3520440"/>
            <a:ext cx="26517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0E7C86"/>
                </a:solidFill>
                <a:latin typeface="Calibri"/>
              </a:rPr>
              <a:t>CTO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3977639"/>
            <a:ext cx="246888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400" b="0">
                <a:solidFill>
                  <a:srgbClr val="1B2A3A"/>
                </a:solidFill>
                <a:latin typeface="Calibri"/>
              </a:rPr>
              <a:t>Led manipulation research at a top robotics lab</a:t>
            </a:r>
          </a:p>
        </p:txBody>
      </p:sp>
      <p:sp>
        <p:nvSpPr>
          <p:cNvPr id="19" name="Oval 18"/>
          <p:cNvSpPr/>
          <p:nvPr/>
        </p:nvSpPr>
        <p:spPr>
          <a:xfrm>
            <a:off x="6958583" y="1783080"/>
            <a:ext cx="1097280" cy="1097280"/>
          </a:xfrm>
          <a:prstGeom prst="ellipse">
            <a:avLst/>
          </a:prstGeom>
          <a:solidFill>
            <a:srgbClr val="B8C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58583" y="2103120"/>
            <a:ext cx="109728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1F3A5F"/>
                </a:solidFill>
                <a:latin typeface="Calibri"/>
              </a:rPr>
              <a:t>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1344" y="3063240"/>
            <a:ext cx="265176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1F3A5F"/>
                </a:solidFill>
                <a:latin typeface="Calibri"/>
              </a:rPr>
              <a:t>Ana Souza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3520440"/>
            <a:ext cx="26517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0E7C86"/>
                </a:solidFill>
                <a:latin typeface="Calibri"/>
              </a:rPr>
              <a:t>COO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2783" y="3977639"/>
            <a:ext cx="246888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400" b="0">
                <a:solidFill>
                  <a:srgbClr val="1B2A3A"/>
                </a:solidFill>
                <a:latin typeface="Calibri"/>
              </a:rPr>
              <a:t>Deployed 2,000 AMRs at a global retailer</a:t>
            </a:r>
          </a:p>
        </p:txBody>
      </p:sp>
      <p:sp>
        <p:nvSpPr>
          <p:cNvPr id="24" name="Oval 23"/>
          <p:cNvSpPr/>
          <p:nvPr/>
        </p:nvSpPr>
        <p:spPr>
          <a:xfrm>
            <a:off x="9774936" y="1783080"/>
            <a:ext cx="1097280" cy="1097280"/>
          </a:xfrm>
          <a:prstGeom prst="ellipse">
            <a:avLst/>
          </a:prstGeom>
          <a:solidFill>
            <a:srgbClr val="C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74936" y="2103120"/>
            <a:ext cx="109728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1F3A5F"/>
                </a:solidFill>
                <a:latin typeface="Calibri"/>
              </a:rPr>
              <a:t>KM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7696" y="3063240"/>
            <a:ext cx="265176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1F3A5F"/>
                </a:solidFill>
                <a:latin typeface="Calibri"/>
              </a:rPr>
              <a:t>Kofi Mensah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7696" y="3520440"/>
            <a:ext cx="26517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0E7C86"/>
                </a:solidFill>
                <a:latin typeface="Calibri"/>
              </a:rPr>
              <a:t>VP Sales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89136" y="3977639"/>
            <a:ext cx="246888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400" b="0">
                <a:solidFill>
                  <a:srgbClr val="1B2A3A"/>
                </a:solidFill>
                <a:latin typeface="Calibri"/>
              </a:rPr>
              <a:t>Built enterprise sales from $0 to $30M ARR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  <a:latin typeface="Calibri"/>
              </a:rPr>
              <a:t>Raising $18M to reach 1,000 robots and $20M ARR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1672" cy="27432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28816"/>
            <a:ext cx="731520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5B6B7B"/>
                </a:solidFill>
                <a:latin typeface="Calibri"/>
              </a:rPr>
              <a:t>Northwind Analytics  ·  Series A · Halcyon Robotics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28816"/>
            <a:ext cx="941832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>
                <a:solidFill>
                  <a:srgbClr val="5B6B7B"/>
                </a:solidFill>
                <a:latin typeface="Calibri"/>
              </a:rPr>
              <a:t>7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1600200"/>
          <a:ext cx="566928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675120" y="1828800"/>
            <a:ext cx="4937760" cy="4206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$18M Series A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5B6B7B"/>
                </a:solidFill>
                <a:latin typeface="Calibri"/>
              </a:rPr>
              <a:t>24 months of runway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E7C86"/>
                </a:solidFill>
                <a:latin typeface="Calibri"/>
              </a:rPr>
              <a:t>Milestones this round funds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1,000 robots deployed across 60 sites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$20M ARR with positive gross margin per robot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Launch in two European markets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Northwind Analytics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