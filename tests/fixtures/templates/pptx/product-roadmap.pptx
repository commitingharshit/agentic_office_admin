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7FD1D8"/>
                </a:solidFill>
                <a:latin typeface="Calibri"/>
              </a:rPr>
              <a:t>PRODUCT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FY27 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058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0">
                <a:solidFill>
                  <a:srgbClr val="C9D8E8"/>
                </a:solidFill>
                <a:latin typeface="Calibri"/>
              </a:rPr>
              <a:t>Three themes, sequenced Now / Next / Later</a:t>
            </a:r>
          </a:p>
        </p:txBody>
      </p:sp>
      <p:sp>
        <p:nvSpPr>
          <p:cNvPr id="6" name="Pentagon 5"/>
          <p:cNvSpPr/>
          <p:nvPr/>
        </p:nvSpPr>
        <p:spPr>
          <a:xfrm>
            <a:off x="822960" y="3977639"/>
            <a:ext cx="3794760" cy="1005840"/>
          </a:xfrm>
          <a:prstGeom prst="homePlat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7" name="Chevron 6"/>
          <p:cNvSpPr/>
          <p:nvPr/>
        </p:nvSpPr>
        <p:spPr>
          <a:xfrm>
            <a:off x="4434840" y="3977639"/>
            <a:ext cx="3794760" cy="1005840"/>
          </a:xfrm>
          <a:prstGeom prst="chevron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8" name="Chevron 7"/>
          <p:cNvSpPr/>
          <p:nvPr/>
        </p:nvSpPr>
        <p:spPr>
          <a:xfrm>
            <a:off x="8046720" y="3977639"/>
            <a:ext cx="3794760" cy="1005840"/>
          </a:xfrm>
          <a:prstGeom prst="chevron">
            <a:avLst/>
          </a:prstGeom>
          <a:solidFill>
            <a:srgbClr val="3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058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9D8E8"/>
                </a:solidFill>
                <a:latin typeface="Calibri"/>
              </a:rPr>
              <a:t>Hannah Kim, VP Product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Three themes carry FY27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Product roadmap FY27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56616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Self-serve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200400" cy="2651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Business users answer 80% of questions without an analyst.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Natural-language query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Metric catalogue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Embedded dashboards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553712"/>
            <a:ext cx="3017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Goal: Activation +25%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9164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9164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92024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Trusted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468880"/>
            <a:ext cx="3200400" cy="2651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Lineage, quality alerts and audit, so the numbers are believed.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Quality alerts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Column-level lineage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Data contracts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452628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4553712"/>
            <a:ext cx="3017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Goal: Data incidents −50%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69164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691640"/>
            <a:ext cx="3566160" cy="82296"/>
          </a:xfrm>
          <a:prstGeom prst="rect">
            <a:avLst/>
          </a:prstGeom>
          <a:solidFill>
            <a:srgbClr val="5E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192024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Enterprise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468880"/>
            <a:ext cx="3200400" cy="2651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SSO, roles, residency and the SLAs the top 100 accounts need.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SCIM provisioning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EU + APAC residency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99.99% SLA 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452628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553712"/>
            <a:ext cx="3017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5E8DB8"/>
                </a:solidFill>
                <a:latin typeface="Calibri"/>
              </a:rPr>
              <a:t>Goal: Enterprise win rate 35%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Roadmap: Now, Next, Later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Product roadmap FY27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600200"/>
            <a:ext cx="292608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600200"/>
            <a:ext cx="29260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NOW · 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4416" y="1600200"/>
            <a:ext cx="292608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4416" y="1600200"/>
            <a:ext cx="29260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· Q2–Q3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22792" y="1600200"/>
            <a:ext cx="292608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600200"/>
            <a:ext cx="29260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LATER · Q4+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11091672" cy="1143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94560"/>
            <a:ext cx="192024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Self-serve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395728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Natural-language query beta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5" y="2395728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1F3A5F"/>
                </a:solidFill>
                <a:latin typeface="Calibri"/>
              </a:rPr>
              <a:t>Metric catalogue 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2395728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1F3A5F"/>
                </a:solidFill>
                <a:latin typeface="Calibri"/>
              </a:rPr>
              <a:t>Embedded dashboards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56432"/>
            <a:ext cx="11091672" cy="1143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56432"/>
            <a:ext cx="192024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Trusted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365760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Quality 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05855" y="365760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E7C86"/>
                </a:solidFill>
                <a:latin typeface="Calibri"/>
              </a:rPr>
              <a:t>Column-level lineage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14232" y="365760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E7C86"/>
                </a:solidFill>
                <a:latin typeface="Calibri"/>
              </a:rPr>
              <a:t>Data contracts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18304"/>
            <a:ext cx="11091672" cy="1143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18304"/>
            <a:ext cx="192024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5E8DB8"/>
                </a:solidFill>
                <a:latin typeface="Calibri"/>
              </a:rPr>
              <a:t>Enterprise ready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4919472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5E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SCIM provisioning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5855" y="4919472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E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5E8DB8"/>
                </a:solidFill>
                <a:latin typeface="Calibri"/>
              </a:rPr>
              <a:t>EU + APAC residency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4232" y="4919472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E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5E8DB8"/>
                </a:solidFill>
                <a:latin typeface="Calibri"/>
              </a:rPr>
              <a:t>99.99% SLA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Calibri"/>
              </a:rPr>
              <a:t>Filled = committed · outlined = planned, subject to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Key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Product roadmap FY27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10515600" cy="7315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419856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" y="2743200"/>
            <a:ext cx="20116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" y="1920240"/>
            <a:ext cx="21031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NL query beta</a:t>
            </a:r>
          </a:p>
          <a:p>
            <a:pPr algn="ctr"/>
            <a:r>
              <a:rPr sz="1300" b="0">
                <a:solidFill>
                  <a:srgbClr val="5B6B7B"/>
                </a:solidFill>
                <a:latin typeface="Calibri"/>
              </a:rPr>
              <a:t>120 design partners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39" y="3419856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79" y="3977639"/>
            <a:ext cx="20116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389120"/>
            <a:ext cx="21031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Quality alerts GA</a:t>
            </a:r>
          </a:p>
          <a:p>
            <a:pPr algn="ctr"/>
            <a:r>
              <a:rPr sz="1300" b="0">
                <a:solidFill>
                  <a:srgbClr val="5B6B7B"/>
                </a:solidFill>
                <a:latin typeface="Calibri"/>
              </a:rPr>
              <a:t>All plans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3419856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743200"/>
            <a:ext cx="20116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MAY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920240"/>
            <a:ext cx="21031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SCIM + residency</a:t>
            </a:r>
          </a:p>
          <a:p>
            <a:pPr algn="ctr"/>
            <a:r>
              <a:rPr sz="1300" b="0">
                <a:solidFill>
                  <a:srgbClr val="5B6B7B"/>
                </a:solidFill>
                <a:latin typeface="Calibri"/>
              </a:rPr>
              <a:t>Enterprise tier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3419856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977639"/>
            <a:ext cx="20116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AUG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389120"/>
            <a:ext cx="21031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Lineage GA</a:t>
            </a:r>
          </a:p>
          <a:p>
            <a:pPr algn="ctr"/>
            <a:r>
              <a:rPr sz="1300" b="0">
                <a:solidFill>
                  <a:srgbClr val="5B6B7B"/>
                </a:solidFill>
                <a:latin typeface="Calibri"/>
              </a:rPr>
              <a:t>Column level</a:t>
            </a:r>
          </a:p>
        </p:txBody>
      </p:sp>
      <p:sp>
        <p:nvSpPr>
          <p:cNvPr id="22" name="Oval 21"/>
          <p:cNvSpPr/>
          <p:nvPr/>
        </p:nvSpPr>
        <p:spPr>
          <a:xfrm>
            <a:off x="10424160" y="3419856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743200"/>
            <a:ext cx="20116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NOV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920240"/>
            <a:ext cx="21031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Embedded dashboards</a:t>
            </a:r>
          </a:p>
          <a:p>
            <a:pPr algn="ctr"/>
            <a:r>
              <a:rPr sz="1300" b="0">
                <a:solidFill>
                  <a:srgbClr val="5B6B7B"/>
                </a:solidFill>
                <a:latin typeface="Calibri"/>
              </a:rPr>
              <a:t>Partner launch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Dependencies and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Product roadmap FY27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737360"/>
                <a:gridCol w="1280160"/>
                <a:gridCol w="3227832"/>
                <a:gridCol w="146304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Dependency / risk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Impacts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LLM provider cost per query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NL query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B76E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Caching + small-model routing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EU residency needs new region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B4231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Region build starts Q1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Infra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Lineage parser coverage for dbt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Trusted data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7B4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Partner with dbt Labs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Design hiring (1 open lead role)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All themes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B76E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Contract agency for Q1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Northwind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