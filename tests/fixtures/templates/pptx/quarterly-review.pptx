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Plan (£M)</c:v>
                </c:pt>
              </c:strCache>
            </c:strRef>
          </c:tx>
          <c:spPr>
            <a:solidFill>
              <a:srgbClr val="B8C4D2"/>
            </a:solidFill>
          </c:spPr>
          <c:cat>
            <c:strRef>
              <c:f>Sheet1!$A$2:$A$4</c:f>
              <c:strCache>
                <c:ptCount val="3"/>
                <c:pt idx="0">
                  <c:v>Mid-market</c:v>
                </c:pt>
                <c:pt idx="1">
                  <c:v>Platform</c:v>
                </c:pt>
                <c:pt idx="2">
                  <c:v>Enterprise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</c:v>
                </c:pt>
                <c:pt idx="1">
                  <c:v>2.2</c:v>
                </c:pt>
                <c:pt idx="2">
                  <c:v>5.05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(£M)</c:v>
                </c:pt>
              </c:strCache>
            </c:strRef>
          </c:tx>
          <c:spPr>
            <a:solidFill>
              <a:srgbClr val="1F3A5F"/>
            </a:solidFill>
          </c:spPr>
          <c:cat>
            <c:strRef>
              <c:f>Sheet1!$A$2:$A$4</c:f>
              <c:strCache>
                <c:ptCount val="3"/>
                <c:pt idx="0">
                  <c:v>Mid-market</c:v>
                </c:pt>
                <c:pt idx="1">
                  <c:v>Platform</c:v>
                </c:pt>
                <c:pt idx="2">
                  <c:v>Enterprise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3.0</c:v>
                </c:pt>
                <c:pt idx="1">
                  <c:v>2.6</c:v>
                </c:pt>
                <c:pt idx="2">
                  <c:v>5.6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solidFill>
                    <a:srgbClr val="1B2A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79456312"/>
        <c:axId val="33489208"/>
      </c:barChart>
      <c:catAx>
        <c:axId val="79456312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2DC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33489208"/>
        <c:crosses val="autoZero"/>
        <c:auto val="1"/>
        <c:lblAlgn val="ctr"/>
        <c:lblOffset val="100"/>
        <c:noMultiLvlLbl val="0"/>
      </c:catAx>
      <c:valAx>
        <c:axId val="33489208"/>
        <c:scaling/>
        <c:delete val="0"/>
        <c:axPos val="b"/>
        <c:majorGridlines>
          <c:spPr>
            <a:ln>
              <a:solidFill>
                <a:srgbClr val="E3E8EE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79456312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5B6B7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0" y="0"/>
            <a:ext cx="109728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474720" cy="1828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0" b="1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329184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>
                <a:solidFill>
                  <a:srgbClr val="9DB8D3"/>
                </a:solidFill>
                <a:latin typeface="Calibri"/>
              </a:rPr>
              <a:t>July –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828800"/>
            <a:ext cx="6675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Calibri"/>
              </a:rPr>
              <a:t>QUARTERLY BUSINESS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286000"/>
            <a:ext cx="67665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4600" b="1">
                <a:solidFill>
                  <a:srgbClr val="1F3A5F"/>
                </a:solidFill>
                <a:latin typeface="Calibri"/>
              </a:rPr>
              <a:t>Q3 FY26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3337560"/>
            <a:ext cx="658368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0">
                <a:solidFill>
                  <a:srgbClr val="1B2A3A"/>
                </a:solidFill>
                <a:latin typeface="Calibri"/>
              </a:rPr>
              <a:t>Results against plan, what drove them, and Q4 priorities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4846320"/>
            <a:ext cx="1097280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5029200"/>
            <a:ext cx="658368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B6B7B"/>
                </a:solidFill>
                <a:latin typeface="Calibri"/>
              </a:rPr>
              <a:t>Executive leadership team · 15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Calibri"/>
              </a:rPr>
              <a:t>QUARTER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Q3 landed ahead on revenue, behind on new logos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27432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Calibri"/>
              </a:rPr>
              <a:t>Northwind Analytics  ·  Q3 FY26 Quarterly Business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28816"/>
            <a:ext cx="941832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5B6B7B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2633472" cy="164592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20"/>
            <a:ext cx="64008" cy="128016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56232"/>
            <a:ext cx="2267712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B6B7B"/>
                </a:solidFill>
                <a:latin typeface="Calibri"/>
              </a:rPr>
              <a:t>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75688"/>
            <a:ext cx="2267712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£11.2M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98648"/>
            <a:ext cx="2267712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E7B4F"/>
                </a:solidFill>
                <a:latin typeface="Calibri"/>
              </a:rPr>
              <a:t>+6.1% vs 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1691640"/>
            <a:ext cx="2633472" cy="164592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4992" y="1874520"/>
            <a:ext cx="64008" cy="128016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2" y="1856232"/>
            <a:ext cx="2267712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B6B7B"/>
                </a:solidFill>
                <a:latin typeface="Calibri"/>
              </a:rPr>
              <a:t>GROSS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2075688"/>
            <a:ext cx="2267712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74.8%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2898648"/>
            <a:ext cx="2267712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E7B4F"/>
                </a:solidFill>
                <a:latin typeface="Calibri"/>
              </a:rPr>
              <a:t>+0.9 pts vs plan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1691640"/>
            <a:ext cx="2633472" cy="164592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1874520"/>
            <a:ext cx="64008" cy="128016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1856232"/>
            <a:ext cx="2267712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B6B7B"/>
                </a:solidFill>
                <a:latin typeface="Calibri"/>
              </a:rPr>
              <a:t>NEW LOGOS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2075688"/>
            <a:ext cx="2267712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898648"/>
            <a:ext cx="2267712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B42318"/>
                </a:solidFill>
                <a:latin typeface="Calibri"/>
              </a:rPr>
              <a:t>−9 vs plan (50)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7696" y="1691640"/>
            <a:ext cx="2633472" cy="164592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874520"/>
            <a:ext cx="64008" cy="128016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6296" y="1856232"/>
            <a:ext cx="2267712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B6B7B"/>
                </a:solidFill>
                <a:latin typeface="Calibri"/>
              </a:rPr>
              <a:t>OPERATING CASH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6296" y="2075688"/>
            <a:ext cx="2267712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£1.48M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898648"/>
            <a:ext cx="2267712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E7B4F"/>
                </a:solidFill>
                <a:latin typeface="Calibri"/>
              </a:rPr>
              <a:t>+£0.2M vs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657600"/>
            <a:ext cx="11064240" cy="2560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What the numbers say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Expansion revenue from existing customers carried the quarter (+£0.9M vs plan).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New-logo shortfall is concentrated in mid-market EMEA, where two AEs left in July.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Margin gain is structural: hosting renegotiation saves £0.4M a year.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Calibri"/>
              </a:rPr>
              <a:t>REVENUE BY 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Enterprise and Platform beat plan; Mid-market missed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27432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Calibri"/>
              </a:rPr>
              <a:t>Northwind Analytics  ·  Q3 FY26 Quarterly Business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28816"/>
            <a:ext cx="941832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5B6B7B"/>
                </a:solidFill>
                <a:latin typeface="Calibri"/>
              </a:rPr>
              <a:t>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600200"/>
          <a:ext cx="69494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0" y="1737360"/>
          <a:ext cx="386791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1912"/>
                <a:gridCol w="1143000"/>
                <a:gridCol w="11430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 £M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 %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Enterprise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7B4F"/>
                          </a:solidFill>
                          <a:latin typeface="Calibri"/>
                        </a:rPr>
                        <a:t>+0.55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7B4F"/>
                          </a:solidFill>
                          <a:latin typeface="Calibri"/>
                        </a:rPr>
                        <a:t>+10.9%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7B4F"/>
                          </a:solidFill>
                          <a:latin typeface="Calibri"/>
                        </a:rPr>
                        <a:t>+0.40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7B4F"/>
                          </a:solidFill>
                          <a:latin typeface="Calibri"/>
                        </a:rPr>
                        <a:t>+18.2%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Mid-market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B42318"/>
                          </a:solidFill>
                          <a:latin typeface="Calibri"/>
                        </a:rPr>
                        <a:t>−0.30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B42318"/>
                          </a:solidFill>
                          <a:latin typeface="Calibri"/>
                        </a:rPr>
                        <a:t>−9.1%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7B4F"/>
                          </a:solidFill>
                          <a:latin typeface="Calibri"/>
                        </a:rPr>
                        <a:t>+0.65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7B4F"/>
                          </a:solidFill>
                          <a:latin typeface="Calibri"/>
                        </a:rPr>
                        <a:t>+6.2%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Calibri"/>
              </a:rPr>
              <a:t>FINANCIAL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P&amp;L against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27432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Calibri"/>
              </a:rPr>
              <a:t>Northwind Analytics  ·  Q3 FY26 Quarterly Business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28816"/>
            <a:ext cx="941832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5B6B7B"/>
                </a:solidFill>
                <a:latin typeface="Calibri"/>
              </a:rP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91640"/>
          <a:ext cx="11091672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52"/>
                <a:gridCol w="1609344"/>
                <a:gridCol w="1609344"/>
                <a:gridCol w="1609344"/>
                <a:gridCol w="1609344"/>
                <a:gridCol w="1609344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£ thousands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Q3 actual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Q3 plan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Variance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 %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Q3 FY25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11,200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10,550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7B4F"/>
                          </a:solidFill>
                          <a:latin typeface="Calibri"/>
                        </a:rPr>
                        <a:t>+650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7B4F"/>
                          </a:solidFill>
                          <a:latin typeface="Calibri"/>
                        </a:rPr>
                        <a:t>+6.2%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9,410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Cost of revenue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(2,822)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(2,754)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B42318"/>
                          </a:solidFill>
                          <a:latin typeface="Calibri"/>
                        </a:rPr>
                        <a:t>−68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B42318"/>
                          </a:solidFill>
                          <a:latin typeface="Calibri"/>
                        </a:rPr>
                        <a:t>−2.5%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(2,503)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Gross profit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8,378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7,796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7B4F"/>
                          </a:solidFill>
                          <a:latin typeface="Calibri"/>
                        </a:rPr>
                        <a:t>+582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7B4F"/>
                          </a:solidFill>
                          <a:latin typeface="Calibri"/>
                        </a:rPr>
                        <a:t>+7.5%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6,907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Sales &amp; marketing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(3,920)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(3,690)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B42318"/>
                          </a:solidFill>
                          <a:latin typeface="Calibri"/>
                        </a:rPr>
                        <a:t>−230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B42318"/>
                          </a:solidFill>
                          <a:latin typeface="Calibri"/>
                        </a:rPr>
                        <a:t>−6.2%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(3,310)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R&amp;D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(2,240)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(2,180)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B42318"/>
                          </a:solidFill>
                          <a:latin typeface="Calibri"/>
                        </a:rPr>
                        <a:t>−60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B42318"/>
                          </a:solidFill>
                          <a:latin typeface="Calibri"/>
                        </a:rPr>
                        <a:t>−2.8%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(1,980)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G&amp;A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(1,060)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(1,080)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7B4F"/>
                          </a:solidFill>
                          <a:latin typeface="Calibri"/>
                        </a:rPr>
                        <a:t>+20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7B4F"/>
                          </a:solidFill>
                          <a:latin typeface="Calibri"/>
                        </a:rPr>
                        <a:t>+1.9%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(1,010)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EBITDA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1,158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846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7B4F"/>
                          </a:solidFill>
                          <a:latin typeface="Calibri"/>
                        </a:rPr>
                        <a:t>+312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7B4F"/>
                          </a:solidFill>
                          <a:latin typeface="Calibri"/>
                        </a:rPr>
                        <a:t>+36.9%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607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Calibri"/>
              </a:rPr>
              <a:t>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What worked, what didn't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27432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Calibri"/>
              </a:rPr>
              <a:t>Northwind Analytics  ·  Q3 FY26 Quarterly Business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28816"/>
            <a:ext cx="941832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5B6B7B"/>
                </a:solidFill>
                <a:latin typeface="Calibr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5449824" cy="448056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5449824" cy="9144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48463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E7B4F"/>
                </a:solidFill>
                <a:latin typeface="Calibri"/>
              </a:rPr>
              <a:t>Worked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43200"/>
            <a:ext cx="4846320" cy="3200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1B2A3A"/>
                </a:solidFill>
                <a:latin typeface="Calibri"/>
              </a:rPr>
              <a:t>•  Expansion playbook: 31% of base upsold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B2A3A"/>
                </a:solidFill>
                <a:latin typeface="Calibri"/>
              </a:rPr>
              <a:t>•  Hosting renegotiation: −£0.4M/yr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B2A3A"/>
                </a:solidFill>
                <a:latin typeface="Calibri"/>
              </a:rPr>
              <a:t>•  Self-serve trial converted 14% (plan 10%)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691640"/>
            <a:ext cx="5449824" cy="4480560"/>
          </a:xfrm>
          <a:prstGeom prst="roundRect">
            <a:avLst>
              <a:gd name="adj" fmla="val 8000"/>
            </a:avLst>
          </a:prstGeom>
          <a:solidFill>
            <a:srgbClr val="FB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691640"/>
            <a:ext cx="5449824" cy="9144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7" y="1965960"/>
            <a:ext cx="48463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400" b="1">
                <a:solidFill>
                  <a:srgbClr val="B42318"/>
                </a:solidFill>
                <a:latin typeface="Calibri"/>
              </a:rPr>
              <a:t>Didn't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7" y="2743200"/>
            <a:ext cx="4846320" cy="3200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1B2A3A"/>
                </a:solidFill>
                <a:latin typeface="Calibri"/>
              </a:rPr>
              <a:t>•  Mid-market EMEA: 2 AE exits, 9 logos short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B2A3A"/>
                </a:solidFill>
                <a:latin typeface="Calibri"/>
              </a:rPr>
              <a:t>•  Partner channel: 3 deals vs 8 planned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B2A3A"/>
                </a:solidFill>
                <a:latin typeface="Calibri"/>
              </a:rPr>
              <a:t>•  Onboarding time crept to 41 days (target 30)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Calibri"/>
              </a:rPr>
              <a:t>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Q4 priorities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27432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Calibri"/>
              </a:rPr>
              <a:t>Northwind Analytics  ·  Q3 FY26 Quarterly Business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28816"/>
            <a:ext cx="941832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5B6B7B"/>
                </a:solidFill>
                <a:latin typeface="Calibr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3566160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3200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Calibri"/>
              </a:rPr>
              <a:t>Rebuild mid-market EMEA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3200400" cy="2377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•  Backfill 2 AEs by 15 Nov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•  Shift 2 SDRs from NA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•  Weekly pipeline inspection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Measure: 15 new logos in Q4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34840"/>
            <a:ext cx="32004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CRO · 30 Nov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69164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1691640"/>
            <a:ext cx="3566160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1920240"/>
            <a:ext cx="3200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Calibri"/>
              </a:rPr>
              <a:t>Cut onboarding to 30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468880"/>
            <a:ext cx="3200400" cy="2377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•  Templates for top 3 use cases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•  Named CSM from day 1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•  Kick-off within 48 hours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Measure: median ≤ 30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4434840"/>
            <a:ext cx="32004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COO · 31 Dec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169164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19" y="1691640"/>
            <a:ext cx="3566160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1920240"/>
            <a:ext cx="3200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Calibri"/>
              </a:rPr>
              <a:t>Close FY26 at £43.5M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2468880"/>
            <a:ext cx="3200400" cy="2377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•  £11.9M required in Q4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•  Pipeline cover 2.8×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•  Top 20 deals reviewed weekly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Measure: forecast accuracy ±3%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4434840"/>
            <a:ext cx="32004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CFO · 31 Dec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Northwind Analytics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